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69" r:id="rId3"/>
    <p:sldId id="273" r:id="rId4"/>
    <p:sldId id="274" r:id="rId5"/>
    <p:sldId id="278" r:id="rId6"/>
    <p:sldId id="279" r:id="rId7"/>
    <p:sldId id="277" r:id="rId8"/>
    <p:sldId id="280" r:id="rId9"/>
    <p:sldId id="283" r:id="rId10"/>
    <p:sldId id="284" r:id="rId11"/>
    <p:sldId id="285" r:id="rId12"/>
    <p:sldId id="281" r:id="rId13"/>
    <p:sldId id="286" r:id="rId14"/>
    <p:sldId id="287" r:id="rId15"/>
    <p:sldId id="288" r:id="rId16"/>
    <p:sldId id="290" r:id="rId17"/>
    <p:sldId id="291" r:id="rId18"/>
    <p:sldId id="275" r:id="rId19"/>
    <p:sldId id="266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8E1B96-C7E9-4724-AB87-BADD70FB78DF}" v="34" dt="2025-11-26T14:28:23.430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97" d="100"/>
          <a:sy n="97" d="100"/>
        </p:scale>
        <p:origin x="2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1222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038F6A56-4FE5-F631-EDD2-4E1152C15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05C41E6-2363-DA63-FCF6-E5D740BAB9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D9AFDBC3-510D-7EA6-3BDD-0AC527F2D3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1578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4EB7A762-79F0-9B73-35F0-869C713CA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D3758C04-5CAA-25B4-EAD8-B86C422232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9A2C13FC-DF59-1698-D8C1-7A1B77ADCA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9211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8BA58EC-183C-3392-A571-96BE1EC73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6EA17106-A7FB-BB77-33DE-D32EFD0997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4FB4267E-2801-BB7F-9CCB-A50F95A1FD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9880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032E1E13-BB0F-6FE0-DEFB-CDC20311E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60E633B8-B7B8-4DCB-9368-0F7FA9F85A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FD2A2C1E-87EA-A59D-98BB-DFF64CBF2C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4505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A38ACF5A-31DB-828F-F9BC-C1670BBEA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B8737079-291D-DACA-59AF-5D2B0FCADF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5B7922A7-5CD1-0FE1-AE02-DE4B303824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312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F3131D6-C09E-FAB5-454A-D3E664AA7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596EE38C-9943-D437-C4A2-5D16A715D2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556A1306-3E65-AA69-78FA-E098445DAF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87798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0CFA3E40-5BB8-BA8F-6AAE-599B437CE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E60210FB-4F7B-1275-09D2-270770859B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B68AA7C-96A9-D69E-1038-6BBFB308C6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32077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A8736CA-3AB0-B732-7296-C76CC1039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CFBBDD43-B6FF-DA66-2EC9-1134437D9D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AF3D1156-FD21-09B3-D2A3-A77D0E56DE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32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DAA2EFD-E567-0796-4D5C-F395CA1A2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E753C6BC-95F8-E3A1-FE8A-AAA5EEC0D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EE91C25F-A6C3-0CFE-7BC9-AF56ADDA68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16291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50E661C-24DE-188B-6C8A-B7CC857C4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3FF1D195-6152-5782-D76D-D4566B24CC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DDAB2192-6D3D-B1C8-FAA1-62632092B5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56363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ctr">
              <a:buSzPct val="100000"/>
            </a:pPr>
            <a:r>
              <a:rPr lang="en-IN" dirty="0">
                <a:solidFill>
                  <a:schemeClr val="tx1"/>
                </a:solidFill>
                <a:latin typeface="Sitka Text" pitchFamily="2" charset="0"/>
                <a:ea typeface="Cambria" panose="02040503050406030204" pitchFamily="18" charset="0"/>
              </a:rPr>
              <a:t>Legal-Serve On-Boarding Platform</a:t>
            </a:r>
            <a:endParaRPr dirty="0">
              <a:solidFill>
                <a:schemeClr val="tx1"/>
              </a:solidFill>
              <a:latin typeface="Sitka Text" pitchFamily="2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1800" dirty="0"/>
              <a:t>CSE_46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800" dirty="0"/>
              <a:t>Ms. </a:t>
            </a:r>
            <a:r>
              <a:rPr lang="en-IN" sz="1800" dirty="0" err="1"/>
              <a:t>Sushmitha</a:t>
            </a:r>
            <a:r>
              <a:rPr lang="en-IN" sz="1800" dirty="0"/>
              <a:t> S </a:t>
            </a:r>
            <a:r>
              <a:rPr lang="en-IN" sz="1800" dirty="0" err="1"/>
              <a:t>S</a:t>
            </a:r>
            <a:endParaRPr lang="en-IN" sz="1800" dirty="0"/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756718398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20221CSE0498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AVANI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20221CSE0533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LIKITHA N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20221CSE0543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POOJA Y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918936" y="460637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IN" sz="1800" dirty="0"/>
              <a:t>Computer Science And Engineering 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1800" dirty="0" err="1"/>
              <a:t>Dr.</a:t>
            </a:r>
            <a:r>
              <a:rPr lang="en-IN" sz="1800" dirty="0"/>
              <a:t> Asif Mohammed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dirty="0" err="1"/>
              <a:t>Dr.</a:t>
            </a:r>
            <a:r>
              <a:rPr lang="en-IN" sz="1800" dirty="0"/>
              <a:t> </a:t>
            </a:r>
            <a:r>
              <a:rPr lang="en-IN" sz="1800" dirty="0" err="1"/>
              <a:t>Jayavadivel</a:t>
            </a:r>
            <a:r>
              <a:rPr lang="en-IN" sz="1800" dirty="0"/>
              <a:t> Ravi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US" dirty="0"/>
              <a:t>PSCS_3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Ministry of Law and Justice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	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	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Incentives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Design for onboarding Legal 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Providers such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Advocates, Arbitrators, Mediators, Notaries, 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 Writers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etc.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e-Market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 for extending Legal Services to 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Citizens in India.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AND OBJECTIVES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 Incentives-Based Design for Onboarding Legal Service Providers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such as Advocates, Arbitrators, Mediators, Notaries, Document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Writers, etc., on e-Marketplace for Extending Legal Services to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Citizens in India. ”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web-based e-Marketplace.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Incentive-driven system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Accessibility and affordability of legal services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Trust, transparency, and quality in the delivery of legal services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spcBef>
                <a:spcPts val="0"/>
              </a:spcBef>
              <a:buSzPct val="100000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India faces significant gaps in access to affordable and timely legal services.</a:t>
            </a:r>
          </a:p>
          <a:p>
            <a:pPr marL="152400" indent="0" algn="just">
              <a:spcBef>
                <a:spcPts val="0"/>
              </a:spcBef>
              <a:buSzPct val="100000"/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300" indent="-342900" algn="just">
              <a:spcBef>
                <a:spcPts val="0"/>
              </a:spcBef>
              <a:buSzPct val="100000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India, the integration of advocates, notaries, mediators, and document writers into a centralized, citizen-centric online platform remains underdeveloped.</a:t>
            </a:r>
          </a:p>
          <a:p>
            <a:pPr marL="152400" indent="0" algn="just">
              <a:spcBef>
                <a:spcPts val="0"/>
              </a:spcBef>
              <a:buSzPct val="100000"/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300" indent="-342900" algn="just">
              <a:spcBef>
                <a:spcPts val="0"/>
              </a:spcBef>
              <a:buSzPct val="100000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Incentive-based models—commonly used in marketplaces like ride-sharing (Uber/Ola), freelancing (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Upwork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and e-commerce—can be adapted to legal service delivery.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638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124C-7CDA-2D0A-932C-EBAB40615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36FA2-AF61-9F3D-8745-F76C6B8EF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87553"/>
            <a:ext cx="10668000" cy="495300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 to affordable and reliable legal services in India remains limited, especially for citizens in rural and semi-urban areas.</a:t>
            </a:r>
          </a:p>
          <a:p>
            <a:pPr marL="76200" indent="0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Many legal service providers—such as advocates, arbitrators, mediators, notaries, and document writers—struggle to reach potential clients due to a lack of digital presence or awareness among citizens.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e-marketplace for legal services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can bridge this gap, but its success depends on onboarding a critical mass of qualified service providers.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422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084CD-D2BD-6618-D34B-350B890A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Proposed Methodology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9FFCDC-720A-6A01-B6EE-3B76C3B85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280" y="932842"/>
            <a:ext cx="3476625" cy="5139084"/>
          </a:xfrm>
          <a:prstGeom prst="rect">
            <a:avLst/>
          </a:prstGeom>
        </p:spPr>
      </p:pic>
      <p:sp>
        <p:nvSpPr>
          <p:cNvPr id="3" name="Google Shape;91;p13">
            <a:extLst>
              <a:ext uri="{FF2B5EF4-FFF2-40B4-BE49-F238E27FC236}">
                <a16:creationId xmlns:a16="http://schemas.microsoft.com/office/drawing/2014/main" id="{39AD9172-5FA4-AF40-E3E1-9B621B25BBCA}"/>
              </a:ext>
            </a:extLst>
          </p:cNvPr>
          <p:cNvSpPr txBox="1"/>
          <p:nvPr/>
        </p:nvSpPr>
        <p:spPr>
          <a:xfrm>
            <a:off x="5412559" y="5986413"/>
            <a:ext cx="1927122" cy="35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Fig : 01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5436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15AEE-7462-1299-3FF1-BEA6B72DA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Proposed 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CBF217-D26D-58FF-B47D-A90F127B4E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5488" y="1234232"/>
            <a:ext cx="11611737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Stakeholder Analysis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Identify target legal service providers and understand their needs, challenges, and  motivations.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2.Incentive Structure Design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Incentives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Reduced commission for early adopters, referral bonuses, milestone</a:t>
            </a: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rewards.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Non-Financial Incentives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Verified professional badges, priority listing, marketing support.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Rewards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Increased visibility for high-rated and active providers.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3.Simplified Onboarding Process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Minimal documentation, multilingual support, and guided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4.Awareness &amp; Outreach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	Collaborations with bar associations, legal forums, and digital campaigns.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5.Retention Strategies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	Exclusive benefits for active members, regular training, and platform updates.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6.Monitoring &amp; Optimization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	Track engagement metrics and adjust incentives based on performance data.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113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A7B312BF-D873-43B4-E4FC-EDD32CCD0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EFA198AF-4BF8-A012-E341-7F9562E6C7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lnSpc>
                <a:spcPct val="200000"/>
              </a:lnSpc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Overview Of The Project 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9396D26B-C613-A055-1EEF-76B9C20BA7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Problem:</a:t>
            </a:r>
          </a:p>
          <a:p>
            <a:pPr marL="76200" indent="0"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Access to Justice</a:t>
            </a:r>
          </a:p>
          <a:p>
            <a:pPr marL="76200" indent="0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Accessibility: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reach for citizens.</a:t>
            </a:r>
          </a:p>
          <a:p>
            <a:pPr marL="76200" indent="0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Delays: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Slow service delivery.</a:t>
            </a:r>
          </a:p>
          <a:p>
            <a:pPr marL="76200" indent="0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Affordability: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cost of legal advice</a:t>
            </a:r>
          </a:p>
          <a:p>
            <a:pPr marL="76200" indent="0">
              <a:buNone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0" indent="0"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key challenge is onboarding and retaining legal service providers to extend quality services to rural and semi-urban areas.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336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E98B8760-BF40-973D-3BD7-98B3DA7FF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0CBF2661-66A3-6067-3602-8131ABACE6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lnSpc>
                <a:spcPct val="200000"/>
              </a:lnSpc>
              <a:buClr>
                <a:schemeClr val="dk1"/>
              </a:buClr>
              <a:buSzPct val="100000"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Critique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of Current Approaches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D72A3EB-7535-6827-1C03-D97A4E7B36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 of Existing Approaches</a:t>
            </a:r>
          </a:p>
          <a:p>
            <a:pPr marL="76200" indent="0">
              <a:buNone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legal aid portals and e-governance apps lack sufficient incentives to retain providers, leading to low participation and unequal service distribution.</a:t>
            </a:r>
          </a:p>
          <a:p>
            <a:pPr marL="76200" indent="0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Low Provider Participation: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systems are transaction-based only.</a:t>
            </a: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Unequal Distribution: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Services concentrated in urban areas, neglecting rural regions.</a:t>
            </a:r>
          </a:p>
          <a:p>
            <a:pPr marL="76200" indent="0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Poor Quality Monitoring: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robust mechanisms to track service quality.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342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050B9A7F-4BE7-C325-3A6C-543F5A176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DB3042D6-D86C-AAA2-12FC-587C8325E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lnSpc>
                <a:spcPct val="200000"/>
              </a:lnSpc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Insights of Research Paper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5BA04DE1-FFBE-9331-77D2-15253FE8C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934065"/>
            <a:ext cx="10668000" cy="5427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from Literature</a:t>
            </a:r>
          </a:p>
          <a:p>
            <a:pPr marL="76200" indent="0"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Our approach is informed by comprehensive research into e-governance, incentive systems, crowdsourcing, and digital inclusion.</a:t>
            </a:r>
          </a:p>
          <a:p>
            <a:pPr marL="76200" indent="0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0" indent="0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[3] Crowdsourcing: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Monetary and non-monetary rewards boost participation.</a:t>
            </a: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Governance: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Incentives increase user adoption of government services.</a:t>
            </a:r>
          </a:p>
          <a:p>
            <a:pPr marL="76200" indent="0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[4] Legal-Tech: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Transparency, accessibility, and affordability bridge justice gaps.</a:t>
            </a: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 Models: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and recognition incentives sustain long-term engagement.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665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3519DCFE-57F4-B517-CED5-1B7242EF4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C2F3A02F-E642-A41F-A208-765447EFF1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lnSpc>
                <a:spcPct val="200000"/>
              </a:lnSpc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Our Innovation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3D9EDA1D-01D0-1EDA-250F-97B2A88CD4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924233"/>
            <a:ext cx="10668000" cy="5427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Multi-Dimensional Incentive Model</a:t>
            </a:r>
          </a:p>
          <a:p>
            <a:pPr marL="76200" indent="0"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Our proposed solution rewards providers based on monetary, recognition, and social incentives, integrated into existing e-governance apps.</a:t>
            </a:r>
          </a:p>
          <a:p>
            <a:pPr marL="76200" indent="0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Monetary: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 for services rendered.</a:t>
            </a: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Recognition: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Badges, certifications, rankings.</a:t>
            </a: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Contribution recognition in government reports.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937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839E6986-9A29-827B-4CD6-5368784B5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43EBF2E-22E3-5A20-F6CC-A68509C84D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lnSpc>
                <a:spcPct val="200000"/>
              </a:lnSpc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Our Solution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A2B60AD4-79FE-8645-C565-5646E00ECD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Incentivizing Legal Professionals</a:t>
            </a:r>
          </a:p>
          <a:p>
            <a:pPr marL="76200" indent="0"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Our objective is to design an incentive-based framework that motivates legal professionals and organizations to join a digital platform, making legal services more accessible and reliable.</a:t>
            </a:r>
          </a:p>
          <a:p>
            <a:pPr marL="76200" indent="0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Platform: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centralized hub for legal services.</a:t>
            </a: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Incentive Model: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Rewarding participation and quality.</a:t>
            </a: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Accessible Services: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Reaching more citizens.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158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873102C2-899E-75F8-D1BF-6AE0CF5E9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4006ABE0-8B2F-A15D-2E0D-5180F5BAFE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lnSpc>
                <a:spcPct val="200000"/>
              </a:lnSpc>
              <a:buClr>
                <a:schemeClr val="dk1"/>
              </a:buClr>
              <a:buSzPct val="100000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Key Goals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40C4F8A9-75FE-87F6-84F2-6EB5A7765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924233"/>
            <a:ext cx="10668000" cy="5427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Measurable Objectives</a:t>
            </a: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Onboarding(30%): More legal professionals in the first year.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Accessibility(70%): Citizens in pilot regions reach digital legal services.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Quality(80%): User satisfaction with service ratings.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 Engagement(60%): Active participation of providers over time.</a:t>
            </a:r>
          </a:p>
        </p:txBody>
      </p:sp>
    </p:spTree>
    <p:extLst>
      <p:ext uri="{BB962C8B-B14F-4D97-AF65-F5344CB8AC3E}">
        <p14:creationId xmlns:p14="http://schemas.microsoft.com/office/powerpoint/2010/main" val="3030076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CE6150D3-8B98-D99C-A544-285666653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9AA82F76-B17D-D76C-8962-F4F7CFEE7A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lnSpc>
                <a:spcPct val="200000"/>
              </a:lnSpc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 and Modules 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A3782D2D-E889-EAF2-44BF-E2990D5A9F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924233"/>
            <a:ext cx="10668000" cy="5427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Incentive Engine: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Monitors participation, allocates rewards.</a:t>
            </a:r>
          </a:p>
          <a:p>
            <a:pPr marL="76200" indent="0"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motivational system designed to encourage active participation from both citizens and service providers.</a:t>
            </a: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Management: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Citizen records and case history.</a:t>
            </a:r>
          </a:p>
          <a:p>
            <a:pPr marL="76200" indent="0"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secure and centralized repository that handles all citizen records, case histories, and provider information.</a:t>
            </a: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Analytics &amp; Feedback: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 checks and reporting.</a:t>
            </a:r>
          </a:p>
          <a:p>
            <a:pPr marL="76200" indent="0"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Provides insights into system performance, user satisfaction, and overall effectiveness of legal service delivery.</a:t>
            </a:r>
          </a:p>
        </p:txBody>
      </p:sp>
    </p:spTree>
    <p:extLst>
      <p:ext uri="{BB962C8B-B14F-4D97-AF65-F5344CB8AC3E}">
        <p14:creationId xmlns:p14="http://schemas.microsoft.com/office/powerpoint/2010/main" val="2015398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7D91F645-0E52-AD57-8E26-963CC3BA8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5E3907CE-D7E2-F850-C213-D6A1C3D7FA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lnSpc>
                <a:spcPct val="200000"/>
              </a:lnSpc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 and Modules (Block diagram)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9B7E28-15F6-1659-ABAF-D867824D8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1002430"/>
            <a:ext cx="9035845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771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D1C7A06E-4989-9C8B-17FA-7F1A24AA2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E9E3AF6-2B7B-A410-6001-BDC48E429A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lnSpc>
                <a:spcPct val="200000"/>
              </a:lnSpc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Requirements 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22168399-152B-B062-47ED-D873960964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Requirements: </a:t>
            </a:r>
          </a:p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Operating System: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Windows 10 or above</a:t>
            </a:r>
          </a:p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Frontend: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HTML5, CSS3, JavaScript (React)</a:t>
            </a:r>
          </a:p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Backend: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Node.js</a:t>
            </a:r>
          </a:p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Database: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MySQL</a:t>
            </a:r>
          </a:p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Server: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Apache or AWS Cloud Hosting</a:t>
            </a:r>
          </a:p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Tools: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 Code, Git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426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42EB34E9-2DD7-F7E2-AD3C-679B89625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E0328113-AF83-D2B0-E23E-940F7EA924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lnSpc>
                <a:spcPct val="200000"/>
              </a:lnSpc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92D579DD-2EF5-7240-B236-2E3BDB3ACB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图片 64">
            <a:extLst>
              <a:ext uri="{FF2B5EF4-FFF2-40B4-BE49-F238E27FC236}">
                <a16:creationId xmlns:a16="http://schemas.microsoft.com/office/drawing/2014/main" id="{B4C60018-0770-767D-6ED0-A8AC60E54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219" y="1143001"/>
            <a:ext cx="9920749" cy="488417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090881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6305-E4E9-CF85-5A3C-F4562CD82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Future Scope: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83316-2058-30A9-B293-A2BD73A66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0787" y="1054511"/>
            <a:ext cx="10668000" cy="4953000"/>
          </a:xfrm>
        </p:spPr>
        <p:txBody>
          <a:bodyPr>
            <a:normAutofit/>
          </a:bodyPr>
          <a:lstStyle/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AI-driven legal document assistance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 platform to cover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pan-India multilingual support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Incorporate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blockchain-based contract and case tracking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enhanced security.</a:t>
            </a:r>
          </a:p>
          <a:p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659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</TotalTime>
  <Words>503</Words>
  <Application>Microsoft Office PowerPoint</Application>
  <PresentationFormat>Widescreen</PresentationFormat>
  <Paragraphs>132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Bookman Old Style</vt:lpstr>
      <vt:lpstr>Calibri</vt:lpstr>
      <vt:lpstr>Cambria</vt:lpstr>
      <vt:lpstr>Sitka Text</vt:lpstr>
      <vt:lpstr>Verdana</vt:lpstr>
      <vt:lpstr>Bioinformatics</vt:lpstr>
      <vt:lpstr>Legal-Serve On-Boarding Platform</vt:lpstr>
      <vt:lpstr>Problem Statement Number: PSCS_3</vt:lpstr>
      <vt:lpstr>PROBLEM STATEMENT AND OBJECTIVES</vt:lpstr>
      <vt:lpstr>Background and Related Work</vt:lpstr>
      <vt:lpstr>Analysis of Problem Statement </vt:lpstr>
      <vt:lpstr>Proposed Methodology</vt:lpstr>
      <vt:lpstr>Proposed Methodology</vt:lpstr>
      <vt:lpstr>Overview Of The Project </vt:lpstr>
      <vt:lpstr>Critique of Current Approaches</vt:lpstr>
      <vt:lpstr>Insights of Research Paper</vt:lpstr>
      <vt:lpstr>Our Innovation</vt:lpstr>
      <vt:lpstr>Our Solution</vt:lpstr>
      <vt:lpstr>Key Goals</vt:lpstr>
      <vt:lpstr>System Architecture and Modules </vt:lpstr>
      <vt:lpstr>System Architecture and Modules (Block diagram)</vt:lpstr>
      <vt:lpstr>Requirements </vt:lpstr>
      <vt:lpstr>Literature Review</vt:lpstr>
      <vt:lpstr>Future Scope: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Avani M</cp:lastModifiedBy>
  <cp:revision>55</cp:revision>
  <dcterms:modified xsi:type="dcterms:W3CDTF">2025-11-26T16:41:45Z</dcterms:modified>
</cp:coreProperties>
</file>